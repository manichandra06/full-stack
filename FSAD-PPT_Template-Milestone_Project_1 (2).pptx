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70" r:id="rId14"/>
    <p:sldId id="265" r:id="rId15"/>
  </p:sldIdLst>
  <p:sldSz cx="18288000" cy="10287000"/>
  <p:notesSz cx="6858000" cy="9144000"/>
  <p:embeddedFontLst>
    <p:embeddedFont>
      <p:font typeface="Bookman Old Style" panose="02050604050505020204" pitchFamily="18" charset="0"/>
      <p:regular r:id="rId16"/>
      <p:bold r:id="rId17"/>
      <p:italic r:id="rId18"/>
      <p:boldItalic r:id="rId19"/>
    </p:embeddedFont>
    <p:embeddedFont>
      <p:font typeface="Cambria" panose="02040503050406030204" pitchFamily="18" charset="0"/>
      <p:regular r:id="rId20"/>
      <p:bold r:id="rId21"/>
      <p:italic r:id="rId22"/>
      <p:boldItalic r:id="rId23"/>
    </p:embeddedFont>
    <p:embeddedFont>
      <p:font typeface="Gotham" panose="020B0604020202020204" charset="0"/>
      <p:regular r:id="rId24"/>
    </p:embeddedFont>
    <p:embeddedFont>
      <p:font typeface="Gotham Bold Italics"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29"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02-03-2026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Real – Time Event Synchronization Engine</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T. Mani </a:t>
            </a:r>
            <a:r>
              <a:rPr lang="en-US" sz="3000" dirty="0" err="1">
                <a:latin typeface="Cambria" panose="02040503050406030204" pitchFamily="18" charset="0"/>
                <a:ea typeface="Cambria" panose="02040503050406030204" pitchFamily="18" charset="0"/>
              </a:rPr>
              <a:t>chandra</a:t>
            </a:r>
            <a:r>
              <a:rPr lang="en-US" sz="3000" dirty="0">
                <a:latin typeface="Cambria" panose="02040503050406030204" pitchFamily="18" charset="0"/>
                <a:ea typeface="Cambria" panose="02040503050406030204" pitchFamily="18" charset="0"/>
              </a:rPr>
              <a:t> – VTU25876 – 23UECS0893</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44398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3200" dirty="0"/>
              <a:t>Dr. S.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9 – Industry , Innovation and Infrastructure</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2588061"/>
          </a:xfrm>
          <a:prstGeom prst="rect">
            <a:avLst/>
          </a:prstGeom>
          <a:noFill/>
        </p:spPr>
        <p:txBody>
          <a:bodyPr wrap="square" rtlCol="0">
            <a:spAutoFit/>
          </a:bodyPr>
          <a:lstStyle/>
          <a:p>
            <a:r>
              <a:rPr lang="en-US" sz="2800" b="1" dirty="0">
                <a:solidFill>
                  <a:srgbClr val="0033CC"/>
                </a:solidFill>
              </a:rPr>
              <a:t>Background of the problem:</a:t>
            </a:r>
          </a:p>
          <a:p>
            <a:endParaRPr lang="en-US" sz="2800" b="1" dirty="0">
              <a:solidFill>
                <a:srgbClr val="0033CC"/>
              </a:solidFill>
            </a:endParaRPr>
          </a:p>
          <a:p>
            <a:pPr algn="just"/>
            <a:r>
              <a:rPr lang="en-US" sz="2800" dirty="0"/>
              <a:t>In many web applications, events such as meetings, webinars, bookings, and deadlines are not synchronized in real-time. Users often see outdated information due to manual refresh or delayed database updates.</a:t>
            </a:r>
          </a:p>
          <a:p>
            <a:pPr algn="just"/>
            <a:endParaRPr lang="en-US" sz="2800" dirty="0"/>
          </a:p>
          <a:p>
            <a:pPr algn="just"/>
            <a:r>
              <a:rPr lang="en-US" sz="2800" b="1" dirty="0">
                <a:solidFill>
                  <a:srgbClr val="0033CC"/>
                </a:solidFill>
              </a:rPr>
              <a:t>Why this project is important:</a:t>
            </a:r>
          </a:p>
          <a:p>
            <a:pPr algn="just"/>
            <a:endParaRPr lang="en-US" sz="2800" b="1" dirty="0">
              <a:solidFill>
                <a:srgbClr val="0033CC"/>
              </a:solidFill>
            </a:endParaRPr>
          </a:p>
          <a:p>
            <a:pPr algn="just"/>
            <a:r>
              <a:rPr lang="en-US" sz="2800" dirty="0"/>
              <a:t>Real-time synchronization ensures that users always see the latest event updates instantly without refreshing the page.</a:t>
            </a:r>
          </a:p>
          <a:p>
            <a:pPr algn="just"/>
            <a:endParaRPr lang="en-US" sz="2800" dirty="0"/>
          </a:p>
          <a:p>
            <a:pPr algn="just"/>
            <a:r>
              <a:rPr lang="en-US" sz="2800" b="1" dirty="0">
                <a:solidFill>
                  <a:srgbClr val="0033CC"/>
                </a:solidFill>
              </a:rPr>
              <a:t>Real-world relevance:</a:t>
            </a:r>
          </a:p>
          <a:p>
            <a:pPr algn="just"/>
            <a:endParaRPr lang="en-US" sz="2800" b="1" dirty="0">
              <a:solidFill>
                <a:srgbClr val="0033CC"/>
              </a:solidFill>
            </a:endParaRPr>
          </a:p>
          <a:p>
            <a:r>
              <a:rPr lang="en-IN" sz="2800" dirty="0"/>
              <a:t>Online booking systems, Event management platforms, Live dashboards, E-learning schedules.</a:t>
            </a:r>
          </a:p>
          <a:p>
            <a:endParaRPr lang="en-US" sz="2800" dirty="0"/>
          </a:p>
          <a:p>
            <a:r>
              <a:rPr lang="en-US" sz="2800" b="1" dirty="0">
                <a:solidFill>
                  <a:srgbClr val="0033CC"/>
                </a:solidFill>
              </a:rPr>
              <a:t>Brief overview of the system:</a:t>
            </a:r>
          </a:p>
          <a:p>
            <a:endParaRPr lang="en-US" sz="2800" b="1" dirty="0">
              <a:solidFill>
                <a:srgbClr val="0033CC"/>
              </a:solidFill>
            </a:endParaRPr>
          </a:p>
          <a:p>
            <a:pPr algn="just"/>
            <a:r>
              <a:rPr lang="en-US" sz="2800" dirty="0"/>
              <a:t>The Real-Time Event Synchronization Engine is a web-based system that updates event data instantly across all connected users using real-time communication technology.</a:t>
            </a:r>
            <a:endParaRPr lang="en-US" sz="2800" b="1" dirty="0">
              <a:solidFill>
                <a:srgbClr val="0033CC"/>
              </a:solidFill>
            </a:endParaRP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1726287"/>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pPr algn="just"/>
            <a:r>
              <a:rPr lang="en-US" sz="2800" dirty="0"/>
              <a:t>In many organizations and web platforms, event updates are not reflected instantly to all users. When an admin modifies, deletes, or adds an event, other users may not see the change immediately unless they refresh the page. This causes confusion, double bookings, scheduling conflicts, and poor user experience.</a:t>
            </a:r>
          </a:p>
          <a:p>
            <a:pPr algn="just"/>
            <a:r>
              <a:rPr lang="en-US" sz="2800" dirty="0"/>
              <a:t>There is a need for a secure and efficient real-time event synchronization system that updates event information instantly across multiple users and devices. The system must ensure data consistency, reduce delays, and improve system reliability.</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9140964"/>
          </a:xfrm>
          <a:prstGeom prst="rect">
            <a:avLst/>
          </a:prstGeom>
          <a:noFill/>
        </p:spPr>
        <p:txBody>
          <a:bodyPr wrap="square" rtlCol="0">
            <a:spAutoFit/>
          </a:bodyPr>
          <a:lstStyle/>
          <a:p>
            <a:pPr eaLnBrk="0" fontAlgn="base" hangingPunct="0">
              <a:spcBef>
                <a:spcPct val="0"/>
              </a:spcBef>
              <a:spcAft>
                <a:spcPct val="0"/>
              </a:spcAft>
              <a:buFontTx/>
              <a:buChar char="•"/>
            </a:pPr>
            <a:endParaRPr lang="en-US" altLang="en-US" sz="2800" dirty="0">
              <a:latin typeface="Arial" panose="020B0604020202020204" pitchFamily="34" charset="0"/>
            </a:endParaRPr>
          </a:p>
          <a:p>
            <a:pPr eaLnBrk="0" fontAlgn="base" hangingPunct="0">
              <a:spcBef>
                <a:spcPct val="0"/>
              </a:spcBef>
              <a:spcAft>
                <a:spcPct val="0"/>
              </a:spcAft>
              <a:buFontTx/>
              <a:buChar char="•"/>
            </a:pPr>
            <a:endParaRPr lang="en-US" altLang="en-US" sz="2800" dirty="0">
              <a:latin typeface="Arial" panose="020B0604020202020204" pitchFamily="34" charset="0"/>
            </a:endParaRPr>
          </a:p>
          <a:p>
            <a:pPr eaLnBrk="0" fontAlgn="base" hangingPunct="0">
              <a:spcBef>
                <a:spcPct val="0"/>
              </a:spcBef>
              <a:spcAft>
                <a:spcPct val="0"/>
              </a:spcAft>
              <a:buFontTx/>
              <a:buChar char="•"/>
            </a:pPr>
            <a:endParaRPr lang="en-US" altLang="en-US" sz="2800" dirty="0">
              <a:latin typeface="Arial" panose="020B0604020202020204" pitchFamily="34" charset="0"/>
            </a:endParaRPr>
          </a:p>
          <a:p>
            <a:pPr eaLnBrk="0" fontAlgn="base" hangingPunct="0">
              <a:spcBef>
                <a:spcPct val="0"/>
              </a:spcBef>
              <a:spcAft>
                <a:spcPct val="0"/>
              </a:spcAft>
              <a:buFontTx/>
              <a:buChar char="•"/>
            </a:pPr>
            <a:endParaRPr lang="en-US" altLang="en-US" sz="2800" dirty="0">
              <a:latin typeface="Arial" panose="020B0604020202020204" pitchFamily="34" charset="0"/>
            </a:endParaRPr>
          </a:p>
          <a:p>
            <a:pPr eaLnBrk="0" fontAlgn="base" hangingPunct="0">
              <a:spcBef>
                <a:spcPct val="0"/>
              </a:spcBef>
              <a:spcAft>
                <a:spcPct val="0"/>
              </a:spcAft>
            </a:pPr>
            <a:r>
              <a:rPr lang="en-US" altLang="en-US" sz="2800" dirty="0">
                <a:latin typeface="Arial" panose="020B0604020202020204" pitchFamily="34" charset="0"/>
              </a:rPr>
              <a:t>1 . To design and develop a web-based Real-Time Event Synchronization Engine.</a:t>
            </a:r>
          </a:p>
          <a:p>
            <a:pPr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2 . To implement instant event updates without manual page refresh.</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3 . To ensure data consistency across multiple users.</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4 . To provide secure admin control for event management.</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5 . To improve performance and reduce synchronization delay.</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12157174"/>
          </a:xfrm>
          <a:prstGeom prst="rect">
            <a:avLst/>
          </a:prstGeom>
          <a:noFill/>
        </p:spPr>
        <p:txBody>
          <a:bodyPr wrap="square" rtlCol="0">
            <a:spAutoFit/>
          </a:bodyPr>
          <a:lstStyle/>
          <a:p>
            <a:pPr lvl="1"/>
            <a:endParaRPr lang="en-US" sz="2800" dirty="0"/>
          </a:p>
          <a:p>
            <a:pPr lvl="0" eaLnBrk="0" fontAlgn="base" hangingPunct="0">
              <a:spcBef>
                <a:spcPct val="0"/>
              </a:spcBef>
              <a:spcAft>
                <a:spcPct val="0"/>
              </a:spcAft>
            </a:pPr>
            <a:r>
              <a:rPr lang="en-US" altLang="en-US" sz="2800" dirty="0">
                <a:latin typeface="Arial" panose="020B0604020202020204" pitchFamily="34" charset="0"/>
              </a:rPr>
              <a:t>1 . The proposed system is a web-based Real-Time Event Synchronization Engine.</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2 . Admin can create, update, and delete events.</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3 . Users can view events in real-time.</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4 . When admin modifies an event, all connected users receive updates instantly.</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5 . The system uses real-time communication (WebSocket technology).</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6 . It prevents double bookings and outdated data.</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7 . It reduces manual refresh dependency.</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8 . It improves user experience and system efficiency.</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334D00A3-5AEA-A5BA-CC06-5082DBBA1B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8800" y="266700"/>
            <a:ext cx="14630400" cy="9753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954107"/>
          </a:xfrm>
          <a:prstGeom prst="rect">
            <a:avLst/>
          </a:prstGeom>
          <a:noFill/>
        </p:spPr>
        <p:txBody>
          <a:bodyPr wrap="square" rtlCol="0">
            <a:spAutoFit/>
          </a:bodyPr>
          <a:lstStyle/>
          <a:p>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36A32239-80AF-3335-2765-5980AD79F8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7512" y="1243012"/>
            <a:ext cx="12372975" cy="78009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27934" y="1764322"/>
            <a:ext cx="15082325" cy="12588061"/>
          </a:xfrm>
          <a:prstGeom prst="rect">
            <a:avLst/>
          </a:prstGeom>
          <a:noFill/>
        </p:spPr>
        <p:txBody>
          <a:bodyPr wrap="square" rtlCol="0">
            <a:spAutoFit/>
          </a:bodyPr>
          <a:lstStyle/>
          <a:p>
            <a:r>
              <a:rPr lang="en-US" sz="2800" dirty="0">
                <a:solidFill>
                  <a:srgbClr val="0033CC"/>
                </a:solidFill>
              </a:rPr>
              <a:t>Frontend:</a:t>
            </a:r>
          </a:p>
          <a:p>
            <a:r>
              <a:rPr lang="en-IN" sz="2800" dirty="0"/>
              <a:t>1 . HTML5</a:t>
            </a:r>
          </a:p>
          <a:p>
            <a:r>
              <a:rPr lang="en-IN" sz="2800" dirty="0"/>
              <a:t>2 . CSS3</a:t>
            </a:r>
          </a:p>
          <a:p>
            <a:r>
              <a:rPr lang="en-IN" sz="2800" dirty="0"/>
              <a:t>3 . JavaScript</a:t>
            </a:r>
          </a:p>
          <a:p>
            <a:endParaRPr lang="en-IN" sz="2800" dirty="0"/>
          </a:p>
          <a:p>
            <a:r>
              <a:rPr lang="en-US" sz="2800" dirty="0">
                <a:solidFill>
                  <a:srgbClr val="0033CC"/>
                </a:solidFill>
              </a:rPr>
              <a:t>Backend:</a:t>
            </a:r>
          </a:p>
          <a:p>
            <a:r>
              <a:rPr lang="en-IN" sz="2800" dirty="0"/>
              <a:t>1 . PHP </a:t>
            </a:r>
          </a:p>
          <a:p>
            <a:r>
              <a:rPr lang="en-IN" sz="2800" dirty="0"/>
              <a:t>2 . MySQL</a:t>
            </a:r>
          </a:p>
          <a:p>
            <a:r>
              <a:rPr lang="en-IN" sz="2800" dirty="0"/>
              <a:t>3 . Apache</a:t>
            </a:r>
          </a:p>
          <a:p>
            <a:endParaRPr lang="en-IN" sz="2800" dirty="0"/>
          </a:p>
          <a:p>
            <a:r>
              <a:rPr lang="en-US" sz="2800" dirty="0">
                <a:solidFill>
                  <a:srgbClr val="0033CC"/>
                </a:solidFill>
              </a:rPr>
              <a:t>Tools:</a:t>
            </a:r>
            <a:endParaRPr lang="en-IN" sz="2800" dirty="0"/>
          </a:p>
          <a:p>
            <a:r>
              <a:rPr lang="en-IN" sz="2800" dirty="0"/>
              <a:t>1 . XAMPP Server</a:t>
            </a:r>
          </a:p>
          <a:p>
            <a:r>
              <a:rPr lang="en-IN" sz="2800" dirty="0"/>
              <a:t>2 . Visual Studio Code</a:t>
            </a:r>
          </a:p>
          <a:p>
            <a:endParaRPr lang="en-IN" sz="2800" dirty="0"/>
          </a:p>
          <a:p>
            <a:r>
              <a:rPr lang="en-US" sz="2800" dirty="0">
                <a:solidFill>
                  <a:srgbClr val="0033CC"/>
                </a:solidFill>
              </a:rPr>
              <a:t>Software Requirements</a:t>
            </a:r>
            <a:r>
              <a:rPr lang="en-US" sz="2800" dirty="0"/>
              <a:t>:</a:t>
            </a:r>
          </a:p>
          <a:p>
            <a:r>
              <a:rPr lang="en-IN" sz="2800" dirty="0"/>
              <a:t>1 . Windows</a:t>
            </a:r>
          </a:p>
          <a:p>
            <a:r>
              <a:rPr lang="en-IN" sz="2800" dirty="0"/>
              <a:t>2 .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0B137354-2585-855D-6D09-288F5C637924}"/>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2AC50FEA-B2CB-2713-6BAF-C158F62B4D59}"/>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91275" y="1638300"/>
            <a:ext cx="15082325" cy="8710077"/>
          </a:xfrm>
          <a:prstGeom prst="rect">
            <a:avLst/>
          </a:prstGeom>
          <a:noFill/>
        </p:spPr>
        <p:txBody>
          <a:bodyPr wrap="square" rtlCol="0">
            <a:spAutoFit/>
          </a:bodyPr>
          <a:lstStyle/>
          <a:p>
            <a:endParaRPr lang="en-IN" sz="2800" b="1" dirty="0">
              <a:solidFill>
                <a:srgbClr val="FF0000"/>
              </a:solidFill>
            </a:endParaRPr>
          </a:p>
          <a:p>
            <a:endParaRPr lang="en-IN" sz="2800" b="1" dirty="0"/>
          </a:p>
          <a:p>
            <a:r>
              <a:rPr lang="en-IN" sz="2800" b="1" dirty="0"/>
              <a:t>Module 1: User Management</a:t>
            </a:r>
          </a:p>
          <a:p>
            <a:r>
              <a:rPr lang="en-IN" sz="2800" dirty="0"/>
              <a:t>Handles user registration, login, and authentication.</a:t>
            </a:r>
          </a:p>
          <a:p>
            <a:endParaRPr lang="en-IN" sz="2800" dirty="0"/>
          </a:p>
          <a:p>
            <a:r>
              <a:rPr lang="en-IN" sz="2800" b="1" dirty="0"/>
              <a:t>Module 2: Core Event Management</a:t>
            </a:r>
          </a:p>
          <a:p>
            <a:r>
              <a:rPr lang="en-US" sz="2800" dirty="0"/>
              <a:t>Allows Admin to create, update, and delete events</a:t>
            </a:r>
            <a:r>
              <a:rPr lang="en-IN" sz="2800" dirty="0"/>
              <a:t>.</a:t>
            </a:r>
          </a:p>
          <a:p>
            <a:endParaRPr lang="en-IN" sz="2800" dirty="0"/>
          </a:p>
          <a:p>
            <a:r>
              <a:rPr lang="en-IN" sz="2800" b="1" dirty="0"/>
              <a:t>Module 3: Real-Time Synchronization Module</a:t>
            </a:r>
          </a:p>
          <a:p>
            <a:r>
              <a:rPr lang="en-US" sz="2800" dirty="0"/>
              <a:t>Uses WebSocket to send event updates instantly to all users</a:t>
            </a:r>
            <a:r>
              <a:rPr lang="en-IN" sz="2800" dirty="0"/>
              <a:t>.</a:t>
            </a:r>
          </a:p>
          <a:p>
            <a:endParaRPr lang="en-IN" sz="2800" dirty="0"/>
          </a:p>
          <a:p>
            <a:r>
              <a:rPr lang="en-IN" sz="2800" b="1" dirty="0"/>
              <a:t>Module 4: Database Management</a:t>
            </a:r>
          </a:p>
          <a:p>
            <a:r>
              <a:rPr lang="en-US" sz="2800" dirty="0"/>
              <a:t>Stores event details and user information securely</a:t>
            </a:r>
            <a:r>
              <a:rPr lang="en-IN" sz="2800" dirty="0"/>
              <a:t>.</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Login Page / Home Page:</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46FCD52B-33B8-6AAF-22EA-C51E65193C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19729" y="3349006"/>
            <a:ext cx="14585369" cy="3493226"/>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161985"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D1CCD2D7-466F-BE42-0158-D35F2C4759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2974" y="2230589"/>
            <a:ext cx="15059784" cy="5646619"/>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66270706-D6D0-FE7A-9CC6-93193E10C6D2}"/>
              </a:ext>
            </a:extLst>
          </p:cNvPr>
          <p:cNvPicPr>
            <a:picLocks noChangeAspect="1"/>
          </p:cNvPicPr>
          <p:nvPr/>
        </p:nvPicPr>
        <p:blipFill>
          <a:blip r:embed="rId4"/>
          <a:stretch>
            <a:fillRect/>
          </a:stretch>
        </p:blipFill>
        <p:spPr>
          <a:xfrm>
            <a:off x="1908752" y="1265170"/>
            <a:ext cx="15168873" cy="902183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E2C72ED-593E-71E7-23AD-1AC1B5AC524A}"/>
              </a:ext>
            </a:extLst>
          </p:cNvPr>
          <p:cNvSpPr txBox="1"/>
          <p:nvPr/>
        </p:nvSpPr>
        <p:spPr>
          <a:xfrm>
            <a:off x="2516626" y="1859697"/>
            <a:ext cx="14045184" cy="11141512"/>
          </a:xfrm>
          <a:prstGeom prst="rect">
            <a:avLst/>
          </a:prstGeom>
          <a:noFill/>
        </p:spPr>
        <p:txBody>
          <a:bodyPr wrap="square">
            <a:spAutoFit/>
          </a:bodyPr>
          <a:lstStyle/>
          <a:p>
            <a:r>
              <a:rPr lang="en-US" sz="2800" b="1" dirty="0">
                <a:solidFill>
                  <a:srgbClr val="0033CC"/>
                </a:solidFill>
              </a:rPr>
              <a:t>Advantages:</a:t>
            </a:r>
          </a:p>
          <a:p>
            <a:endParaRPr lang="en-US" sz="2800" b="1" dirty="0">
              <a:solidFill>
                <a:srgbClr val="0033CC"/>
              </a:solidFill>
            </a:endParaRPr>
          </a:p>
          <a:p>
            <a:r>
              <a:rPr lang="en-IN" sz="2800" dirty="0"/>
              <a:t>1 . Instant Event Updates.</a:t>
            </a:r>
          </a:p>
          <a:p>
            <a:r>
              <a:rPr lang="en-IN" sz="2800" dirty="0"/>
              <a:t>2 . No Manual Page Refresh.</a:t>
            </a:r>
          </a:p>
          <a:p>
            <a:r>
              <a:rPr lang="en-IN" sz="2800" dirty="0"/>
              <a:t>3 . Prevents Scheduling Conflicts.</a:t>
            </a:r>
          </a:p>
          <a:p>
            <a:r>
              <a:rPr lang="en-IN" sz="2800" dirty="0"/>
              <a:t>4 . Improved User Experience.</a:t>
            </a:r>
          </a:p>
          <a:p>
            <a:r>
              <a:rPr lang="en-IN" sz="2800" dirty="0"/>
              <a:t>5 . Scalable System.</a:t>
            </a:r>
          </a:p>
          <a:p>
            <a:endParaRPr lang="en-IN" sz="2800" b="1" dirty="0">
              <a:solidFill>
                <a:srgbClr val="0033CC"/>
              </a:solidFill>
            </a:endParaRPr>
          </a:p>
          <a:p>
            <a:r>
              <a:rPr lang="en-US" sz="2800" b="1" dirty="0">
                <a:solidFill>
                  <a:srgbClr val="0033CC"/>
                </a:solidFill>
              </a:rPr>
              <a:t>Limitations:</a:t>
            </a:r>
          </a:p>
          <a:p>
            <a:endParaRPr lang="en-US" sz="2800" b="1" dirty="0">
              <a:solidFill>
                <a:srgbClr val="0033CC"/>
              </a:solidFill>
            </a:endParaRPr>
          </a:p>
          <a:p>
            <a:r>
              <a:rPr lang="en-IN" sz="2800" dirty="0"/>
              <a:t>1 . Requires Stable Internet Connection.</a:t>
            </a:r>
          </a:p>
          <a:p>
            <a:r>
              <a:rPr lang="en-IN" sz="2800" dirty="0"/>
              <a:t>2 . WebSocket Configuration Complexity.</a:t>
            </a:r>
          </a:p>
          <a:p>
            <a:r>
              <a:rPr lang="en-US" sz="2800" dirty="0"/>
              <a:t>3 . Security Challenges in Real-Time Systems.</a:t>
            </a:r>
          </a:p>
          <a:p>
            <a:r>
              <a:rPr lang="en-IN" sz="2800" dirty="0"/>
              <a:t>4 . Server Load Handling Required.</a:t>
            </a:r>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IN" dirty="0"/>
          </a:p>
        </p:txBody>
      </p:sp>
    </p:spTree>
    <p:extLst>
      <p:ext uri="{BB962C8B-B14F-4D97-AF65-F5344CB8AC3E}">
        <p14:creationId xmlns:p14="http://schemas.microsoft.com/office/powerpoint/2010/main" val="183897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302</TotalTime>
  <Words>749</Words>
  <Application>Microsoft Office PowerPoint</Application>
  <PresentationFormat>Custom</PresentationFormat>
  <Paragraphs>329</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Bookman Old Style</vt:lpstr>
      <vt:lpstr>Gotham Bold Italics</vt:lpstr>
      <vt:lpstr>Arial</vt:lpstr>
      <vt:lpstr>Calibri</vt:lpstr>
      <vt:lpstr>Times New Roman</vt:lpstr>
      <vt:lpstr>Cambria</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karri satish</dc:creator>
  <cp:lastModifiedBy>karri satish</cp:lastModifiedBy>
  <cp:revision>13</cp:revision>
  <dcterms:created xsi:type="dcterms:W3CDTF">2006-08-16T00:00:00Z</dcterms:created>
  <dcterms:modified xsi:type="dcterms:W3CDTF">2026-03-02T04:34:21Z</dcterms:modified>
  <dc:identifier>DAHCaYqJ9OU</dc:identifier>
</cp:coreProperties>
</file>